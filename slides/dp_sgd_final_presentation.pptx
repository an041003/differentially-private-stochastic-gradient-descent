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Privacy-Preserving Data with Differential Privacy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DP-SGD on UCI Adult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Machine learning models may memorize training records</a:t>
            </a:r>
          </a:p>
          <a:p>
            <a:pPr/>
            <a:r>
              <a:t>Personal data needs privacy in the training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Attacker may infer whether a person was in training data</a:t>
            </a:r>
          </a:p>
          <a:p>
            <a:pPr/>
            <a:r>
              <a:t>UCI Adult contains personal tabular attributes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Smaller epsilon means stronger privacy</a:t>
            </a:r>
          </a:p>
          <a:p>
            <a:pPr/>
            <a:r>
              <a:t>Delta is fixed at 1e-5 in this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DP-SGD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Per-example gradients</a:t>
            </a:r>
          </a:p>
          <a:p>
            <a:pPr/>
            <a:r>
              <a:t>L2 clipping</a:t>
            </a:r>
          </a:p>
          <a:p>
            <a:pPr/>
            <a:r>
              <a:t>Gaussian noise</a:t>
            </a:r>
          </a:p>
          <a:p>
            <a:pPr/>
            <a:r>
              <a:t>Privacy accounting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Abadi et al.: Deep Learning with Differential Privacy</a:t>
            </a:r>
          </a:p>
          <a:p>
            <a:pPr/>
            <a:r>
              <a:t>Original benchmarks: MNIST and CIFAR-10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UCI Adult / Census Income</a:t>
            </a:r>
          </a:p>
          <a:p>
            <a:pPr/>
            <a:r>
              <a:t>30,162 train rows and 15,060 test rows after cleaning</a:t>
            </a:r>
          </a:p>
          <a:p>
            <a:pPr/>
            <a:r>
              <a:t>104 processed input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Attacker can query trained model</a:t>
            </a:r>
          </a:p>
          <a:p>
            <a:pPr/>
            <a:r>
              <a:t>Attack goal: infer training membership</a:t>
            </a:r>
          </a:p>
          <a:p>
            <a:pPr/>
            <a:r>
              <a:t>Defense: bound influence of one record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Preprocess data</a:t>
            </a:r>
          </a:p>
          <a:p>
            <a:pPr/>
            <a:r>
              <a:t>Train baseline models</a:t>
            </a:r>
          </a:p>
          <a:p>
            <a:pPr/>
            <a:r>
              <a:t>Run DP-SGD sweeps</a:t>
            </a:r>
          </a:p>
          <a:p>
            <a:pPr/>
            <a:r>
              <a:t>Evaluate utility and MIA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Logistic Regression accuracy = 0.8480</a:t>
            </a:r>
          </a:p>
          <a:p>
            <a:pPr/>
            <a:r>
              <a:t>MLP baseline accuracy = 0.8487</a:t>
            </a:r>
          </a:p>
          <a:p>
            <a:pPr/>
            <a:r>
              <a:t>MLP baseline F1 = 0.6645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Baseline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Tuned classical baseline: HistGradientBoosting</a:t>
            </a:r>
          </a:p>
          <a:p>
            <a:pPr/>
            <a:r>
              <a:t>Default accuracy = 0.8708</a:t>
            </a:r>
          </a:p>
          <a:p>
            <a:pPr/>
            <a:r>
              <a:t>Threshold-tuned F1 = 0.7261</a:t>
            </a:r>
          </a:p>
          <a:p>
            <a:pPr/>
            <a:r>
              <a:t>Clean 0.90 target was not reached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Boosted Feature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Tried XGBoost, LightGBM, CatBoost, HistGradientBoosting</a:t>
            </a:r>
          </a:p>
          <a:p>
            <a:pPr/>
            <a:r>
              <a:t>Added numeric bins and interaction features</a:t>
            </a:r>
          </a:p>
          <a:p>
            <a:pPr/>
            <a:r>
              <a:t>Best boosted F1 = 0.7273</a:t>
            </a:r>
          </a:p>
          <a:p>
            <a:pPr/>
            <a:r>
              <a:t>Best boosted default accuracy = 0.8689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Sweep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Balanced noise 1.5 epsilon = 1.2143</a:t>
            </a:r>
          </a:p>
          <a:p>
            <a:pPr/>
            <a:r>
              <a:t>Accuracy = 0.8497</a:t>
            </a:r>
          </a:p>
          <a:p>
            <a:pPr/>
            <a:r>
              <a:t>F1 = 0.6571</a:t>
            </a:r>
          </a:p>
        </p:txBody>
      </p:sp>
      <p:pic>
        <p:nvPicPr>
          <p:cNvPr id="4" name="Picture 3" descr="noise_vs_epsi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7765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Utility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Higher noise reduces epsilon</a:t>
            </a:r>
          </a:p>
          <a:p>
            <a:pPr/>
            <a:r>
              <a:t>Utility changes are modest on UCI Adult</a:t>
            </a:r>
          </a:p>
        </p:txBody>
      </p:sp>
      <p:pic>
        <p:nvPicPr>
          <p:cNvPr id="4" name="Picture 3" descr="privacy_utilit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7765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 Grad Norm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Epsilon unchanged when noise/sample rate/epochs are fixed</a:t>
            </a:r>
          </a:p>
          <a:p>
            <a:pPr/>
            <a:r>
              <a:t>Best F1 in final run: max_grad_norm = 2.0</a:t>
            </a:r>
          </a:p>
        </p:txBody>
      </p:sp>
      <p:pic>
        <p:nvPicPr>
          <p:cNvPr id="4" name="Picture 3" descr="max_grad_norm_v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7765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Batch size changes sampling rate</a:t>
            </a:r>
          </a:p>
          <a:p>
            <a:pPr/>
            <a:r>
              <a:t>Batch 64 has lowest epsilon but much weaker F1</a:t>
            </a:r>
          </a:p>
          <a:p>
            <a:pPr/>
            <a:r>
              <a:t>Batch 512 has stronger utility but higher epsilon</a:t>
            </a:r>
          </a:p>
        </p:txBody>
      </p:sp>
      <p:pic>
        <p:nvPicPr>
          <p:cNvPr id="4" name="Picture 3" descr="batch_size_vs_epsi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7765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Multi-Seed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Small standard deviations across seeds</a:t>
            </a:r>
          </a:p>
          <a:p>
            <a:pPr/>
            <a:r>
              <a:t>Noise 1.5 remains stable enough for discussion</a:t>
            </a:r>
          </a:p>
        </p:txBody>
      </p:sp>
      <p:pic>
        <p:nvPicPr>
          <p:cNvPr id="4" name="Picture 3" descr="multi_seed_errorbar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Inference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Confidence-based attack</a:t>
            </a:r>
          </a:p>
          <a:p>
            <a:pPr/>
            <a:r>
              <a:t>Train samples label 1, test samples label 0</a:t>
            </a:r>
          </a:p>
          <a:p>
            <a:pPr/>
            <a:r>
              <a:t>Metric: attack AUC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Inference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Baseline attack AUC = 0.5021</a:t>
            </a:r>
          </a:p>
          <a:p>
            <a:pPr/>
            <a:r>
              <a:t>DP-SGD attack AUC values are also near 0.5</a:t>
            </a:r>
          </a:p>
          <a:p>
            <a:pPr/>
            <a:r>
              <a:t>Simple attack is close to random guessing</a:t>
            </a:r>
          </a:p>
        </p:txBody>
      </p:sp>
      <p:pic>
        <p:nvPicPr>
          <p:cNvPr id="4" name="Picture 3" descr="attack_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7765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Balanced: noise_multiplier = 1.5</a:t>
            </a:r>
          </a:p>
          <a:p>
            <a:pPr/>
            <a:r>
              <a:t>Epsilon = 1.2143</a:t>
            </a:r>
          </a:p>
          <a:p>
            <a:pPr/>
            <a:r>
              <a:t>Strongest privacy: noise = 3.0, epsilon = 0.5124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Tuned DP-SGD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GPU tuning focused on noise multiplier 1.5</a:t>
            </a:r>
          </a:p>
          <a:p>
            <a:pPr/>
            <a:r>
              <a:t>Best F1 = 0.6680</a:t>
            </a:r>
          </a:p>
          <a:p>
            <a:pPr/>
            <a:r>
              <a:t>clip=2.0000, batch=512</a:t>
            </a:r>
          </a:p>
          <a:p>
            <a:pPr/>
            <a:r>
              <a:t>epochs=20, lr=0.0800</a:t>
            </a:r>
          </a:p>
        </p:txBody>
      </p:sp>
      <p:pic>
        <p:nvPicPr>
          <p:cNvPr id="4" name="Picture 3" descr="tuning_f1_by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413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Stress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Added joint grid: noise x clipping norm</a:t>
            </a:r>
          </a:p>
          <a:p>
            <a:pPr/>
            <a:r>
              <a:t>Metric focus: F1-score</a:t>
            </a:r>
          </a:p>
          <a:p>
            <a:pPr/>
            <a:r>
              <a:t>Tuned non-DP F1 = 0.6951</a:t>
            </a:r>
          </a:p>
          <a:p>
            <a:pPr/>
            <a:r>
              <a:t>Best DP grid result is below tuned baseline</a:t>
            </a:r>
          </a:p>
          <a:p>
            <a:pPr/>
            <a:r>
              <a:t>Noise 10-20 shows clear utility drop</a:t>
            </a:r>
          </a:p>
          <a:p>
            <a:pPr/>
            <a:r>
              <a:t>Best F1 at noise 20 = 0.5135</a:t>
            </a:r>
          </a:p>
        </p:txBody>
      </p:sp>
      <p:pic>
        <p:nvPicPr>
          <p:cNvPr id="4" name="Picture 3" descr="extreme_noise_best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x Clip x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Completed 144 DP-SGD GPU runs</a:t>
            </a:r>
          </a:p>
          <a:p>
            <a:pPr/>
            <a:r>
              <a:t>Best DP grid F1 = 0.6760</a:t>
            </a:r>
          </a:p>
          <a:p>
            <a:pPr/>
            <a:r>
              <a:t>Best DP model = mlp_64_32_d0p1</a:t>
            </a:r>
          </a:p>
          <a:p>
            <a:pPr/>
            <a:r>
              <a:t>Worst DP grid F1 = 0.2413</a:t>
            </a:r>
          </a:p>
        </p:txBody>
      </p:sp>
      <p:pic>
        <p:nvPicPr>
          <p:cNvPr id="4" name="Picture 3" descr="model_clip_noise_best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3108960" cy="161665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DP-SGD can be integrated into PyTorch training</a:t>
            </a:r>
          </a:p>
          <a:p>
            <a:pPr/>
            <a:r>
              <a:t>Privacy and utility should be reported together</a:t>
            </a:r>
          </a:p>
          <a:p>
            <a:pPr/>
            <a:r>
              <a:t>MIA AUC complements but does not replace epsilon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